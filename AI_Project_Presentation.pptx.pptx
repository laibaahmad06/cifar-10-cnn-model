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ssistant Bold" charset="1" panose="00000800000000000000"/>
      <p:regular r:id="rId15"/>
    </p:embeddedFont>
    <p:embeddedFont>
      <p:font typeface="Assistant" charset="1" panose="00000500000000000000"/>
      <p:regular r:id="rId16"/>
    </p:embeddedFont>
    <p:embeddedFont>
      <p:font typeface="Roca One" charset="1" panose="00000500000000000000"/>
      <p:regular r:id="rId17"/>
    </p:embeddedFont>
    <p:embeddedFont>
      <p:font typeface="Roca One Italic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4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385899" y="-196352"/>
            <a:ext cx="5902101" cy="5902101"/>
          </a:xfrm>
          <a:custGeom>
            <a:avLst/>
            <a:gdLst/>
            <a:ahLst/>
            <a:cxnLst/>
            <a:rect r="r" b="b" t="t" l="l"/>
            <a:pathLst>
              <a:path h="5902101" w="5902101">
                <a:moveTo>
                  <a:pt x="0" y="0"/>
                </a:moveTo>
                <a:lnTo>
                  <a:pt x="5902101" y="0"/>
                </a:lnTo>
                <a:lnTo>
                  <a:pt x="5902101" y="5902100"/>
                </a:lnTo>
                <a:lnTo>
                  <a:pt x="0" y="5902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72315" y="-776716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34542" y="6325059"/>
            <a:ext cx="13051591" cy="396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1"/>
              </a:lnSpc>
            </a:pPr>
            <a:r>
              <a:rPr lang="en-US" sz="4481" spc="67" b="true">
                <a:solidFill>
                  <a:srgbClr val="09428E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GROU</a:t>
            </a:r>
            <a:r>
              <a:rPr lang="en-US" b="true" sz="4481" spc="67">
                <a:solidFill>
                  <a:srgbClr val="09428E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P MEMBERS                 ROLL NO</a:t>
            </a:r>
          </a:p>
          <a:p>
            <a:pPr algn="l">
              <a:lnSpc>
                <a:spcPts val="4481"/>
              </a:lnSpc>
            </a:pPr>
          </a:p>
          <a:p>
            <a:pPr algn="l">
              <a:lnSpc>
                <a:spcPts val="4481"/>
              </a:lnSpc>
            </a:pPr>
            <a:r>
              <a:rPr lang="en-US" sz="4481" spc="67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TURAB HASHMI                       BSSE23002 </a:t>
            </a:r>
          </a:p>
          <a:p>
            <a:pPr algn="l">
              <a:lnSpc>
                <a:spcPts val="4481"/>
              </a:lnSpc>
            </a:pPr>
            <a:r>
              <a:rPr lang="en-US" sz="4481" spc="67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AYESHA USMAN                      BSSE23031 </a:t>
            </a:r>
          </a:p>
          <a:p>
            <a:pPr algn="l">
              <a:lnSpc>
                <a:spcPts val="4481"/>
              </a:lnSpc>
            </a:pPr>
            <a:r>
              <a:rPr lang="en-US" sz="4481" spc="67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ASMA HAIDER                          BSSE23051 </a:t>
            </a:r>
          </a:p>
          <a:p>
            <a:pPr algn="l">
              <a:lnSpc>
                <a:spcPts val="4481"/>
              </a:lnSpc>
            </a:pPr>
            <a:r>
              <a:rPr lang="en-US" sz="4481" spc="67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LAIBA AHMAD                          BSSE23085 </a:t>
            </a:r>
          </a:p>
          <a:p>
            <a:pPr algn="l">
              <a:lnSpc>
                <a:spcPts val="448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05967" y="1539056"/>
            <a:ext cx="13530983" cy="230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sz="6649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CIFAR-10 IMAGE CLASSIFICATION USING CNN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5967" y="4046926"/>
            <a:ext cx="1070729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i="true">
                <a:solidFill>
                  <a:srgbClr val="09428E"/>
                </a:solidFill>
                <a:latin typeface="Roca One Italics"/>
                <a:ea typeface="Roca One Italics"/>
                <a:cs typeface="Roca One Italics"/>
                <a:sym typeface="Roca One Italics"/>
              </a:rPr>
              <a:t>Optimizati</a:t>
            </a:r>
            <a:r>
              <a:rPr lang="en-US" sz="4299" i="true">
                <a:solidFill>
                  <a:srgbClr val="09428E"/>
                </a:solidFill>
                <a:latin typeface="Roca One Italics"/>
                <a:ea typeface="Roca One Italics"/>
                <a:cs typeface="Roca One Italics"/>
                <a:sym typeface="Roca One Italics"/>
              </a:rPr>
              <a:t>on and Regularization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78522" y="2532906"/>
            <a:ext cx="14994036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D</a:t>
            </a: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esign and train a custom CNN for CIFAR-10 image classification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Analyze training behavior and design choices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Focus on justification, not just highest accuracy</a:t>
            </a:r>
          </a:p>
          <a:p>
            <a:pPr algn="just">
              <a:lnSpc>
                <a:spcPts val="46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278522" y="1792483"/>
            <a:ext cx="5172103" cy="80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6"/>
              </a:lnSpc>
            </a:pPr>
            <a:r>
              <a:rPr lang="en-US" sz="707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Goal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8522" y="5246360"/>
            <a:ext cx="5172103" cy="80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6"/>
              </a:lnSpc>
            </a:pPr>
            <a:r>
              <a:rPr lang="en-US" sz="707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Motivation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8522" y="6135885"/>
            <a:ext cx="16229857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CIFAR-10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 is a standard benchmark for image classification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Understand impact of:</a:t>
            </a:r>
          </a:p>
          <a:p>
            <a:pPr algn="just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Optimizers (Adam vs SGD)</a:t>
            </a:r>
          </a:p>
          <a:p>
            <a:pPr algn="just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Regularization (Dropout)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Build a transparent CNN from scratch instead of using pre-trained models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2551" y="3027724"/>
            <a:ext cx="14994036" cy="463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W</a:t>
            </a: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e used the CIFAR-10 dataset, which gave us 50,000 images to train the model and 10,000 images to test it.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Batch Size of 128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2 workers: Parallel processing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Single, reusable function: train_model()</a:t>
            </a:r>
          </a:p>
          <a:p>
            <a:pPr algn="just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Number of epochs = 10 (each epoch made 1 full trip through the entire training dataset)</a:t>
            </a:r>
          </a:p>
          <a:p>
            <a:pPr algn="just">
              <a:lnSpc>
                <a:spcPts val="46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278522" y="1792483"/>
            <a:ext cx="5172103" cy="80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6"/>
              </a:lnSpc>
            </a:pPr>
            <a:r>
              <a:rPr lang="en-US" sz="707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Setup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8516" y="669193"/>
            <a:ext cx="16950968" cy="8948613"/>
          </a:xfrm>
          <a:custGeom>
            <a:avLst/>
            <a:gdLst/>
            <a:ahLst/>
            <a:cxnLst/>
            <a:rect r="r" b="b" t="t" l="l"/>
            <a:pathLst>
              <a:path h="8948613" w="16950968">
                <a:moveTo>
                  <a:pt x="0" y="0"/>
                </a:moveTo>
                <a:lnTo>
                  <a:pt x="16950968" y="0"/>
                </a:lnTo>
                <a:lnTo>
                  <a:pt x="16950968" y="8948614"/>
                </a:lnTo>
                <a:lnTo>
                  <a:pt x="0" y="894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952" r="0" b="-17251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586452" y="-2184630"/>
            <a:ext cx="9052114" cy="9185724"/>
          </a:xfrm>
          <a:custGeom>
            <a:avLst/>
            <a:gdLst/>
            <a:ahLst/>
            <a:cxnLst/>
            <a:rect r="r" b="b" t="t" l="l"/>
            <a:pathLst>
              <a:path h="9185724" w="9052114">
                <a:moveTo>
                  <a:pt x="9052114" y="9185724"/>
                </a:moveTo>
                <a:lnTo>
                  <a:pt x="0" y="9185724"/>
                </a:lnTo>
                <a:lnTo>
                  <a:pt x="0" y="0"/>
                </a:lnTo>
                <a:lnTo>
                  <a:pt x="9052114" y="0"/>
                </a:lnTo>
                <a:lnTo>
                  <a:pt x="9052114" y="91857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124030" y="3558920"/>
            <a:ext cx="8829675" cy="8960002"/>
          </a:xfrm>
          <a:custGeom>
            <a:avLst/>
            <a:gdLst/>
            <a:ahLst/>
            <a:cxnLst/>
            <a:rect r="r" b="b" t="t" l="l"/>
            <a:pathLst>
              <a:path h="8960002" w="8829675">
                <a:moveTo>
                  <a:pt x="0" y="0"/>
                </a:moveTo>
                <a:lnTo>
                  <a:pt x="8829675" y="0"/>
                </a:lnTo>
                <a:lnTo>
                  <a:pt x="8829675" y="8960003"/>
                </a:lnTo>
                <a:lnTo>
                  <a:pt x="0" y="8960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927217"/>
            <a:ext cx="11320478" cy="79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7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M</a:t>
            </a:r>
            <a:r>
              <a:rPr lang="en-US" sz="7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odel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0555" y="483906"/>
            <a:ext cx="17350750" cy="9415329"/>
            <a:chOff x="0" y="0"/>
            <a:chExt cx="4569745" cy="24797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9745" cy="2479757"/>
            </a:xfrm>
            <a:custGeom>
              <a:avLst/>
              <a:gdLst/>
              <a:ahLst/>
              <a:cxnLst/>
              <a:rect r="r" b="b" t="t" l="l"/>
              <a:pathLst>
                <a:path h="2479757" w="4569745">
                  <a:moveTo>
                    <a:pt x="0" y="0"/>
                  </a:moveTo>
                  <a:lnTo>
                    <a:pt x="4569745" y="0"/>
                  </a:lnTo>
                  <a:lnTo>
                    <a:pt x="4569745" y="2479757"/>
                  </a:lnTo>
                  <a:lnTo>
                    <a:pt x="0" y="247975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569745" cy="2422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42728" y="2061177"/>
            <a:ext cx="8353202" cy="3435254"/>
          </a:xfrm>
          <a:custGeom>
            <a:avLst/>
            <a:gdLst/>
            <a:ahLst/>
            <a:cxnLst/>
            <a:rect r="r" b="b" t="t" l="l"/>
            <a:pathLst>
              <a:path h="3435254" w="8353202">
                <a:moveTo>
                  <a:pt x="0" y="0"/>
                </a:moveTo>
                <a:lnTo>
                  <a:pt x="8353202" y="0"/>
                </a:lnTo>
                <a:lnTo>
                  <a:pt x="8353202" y="3435254"/>
                </a:lnTo>
                <a:lnTo>
                  <a:pt x="0" y="3435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8693" y="5933188"/>
            <a:ext cx="8425307" cy="3454376"/>
          </a:xfrm>
          <a:custGeom>
            <a:avLst/>
            <a:gdLst/>
            <a:ahLst/>
            <a:cxnLst/>
            <a:rect r="r" b="b" t="t" l="l"/>
            <a:pathLst>
              <a:path h="3454376" w="8425307">
                <a:moveTo>
                  <a:pt x="0" y="0"/>
                </a:moveTo>
                <a:lnTo>
                  <a:pt x="8425307" y="0"/>
                </a:lnTo>
                <a:lnTo>
                  <a:pt x="8425307" y="3454375"/>
                </a:lnTo>
                <a:lnTo>
                  <a:pt x="0" y="3454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98748" y="2061177"/>
            <a:ext cx="8106794" cy="3435254"/>
          </a:xfrm>
          <a:custGeom>
            <a:avLst/>
            <a:gdLst/>
            <a:ahLst/>
            <a:cxnLst/>
            <a:rect r="r" b="b" t="t" l="l"/>
            <a:pathLst>
              <a:path h="3435254" w="8106794">
                <a:moveTo>
                  <a:pt x="0" y="0"/>
                </a:moveTo>
                <a:lnTo>
                  <a:pt x="8106794" y="0"/>
                </a:lnTo>
                <a:lnTo>
                  <a:pt x="8106794" y="3435254"/>
                </a:lnTo>
                <a:lnTo>
                  <a:pt x="0" y="3435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1154" y="1054997"/>
            <a:ext cx="1582838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7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Experiment 1 — </a:t>
            </a:r>
            <a:r>
              <a:rPr lang="en-US" sz="7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Optimization Path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4753" y="5999863"/>
            <a:ext cx="7753247" cy="207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7"/>
              </a:lnSpc>
              <a:spcBef>
                <a:spcPct val="0"/>
              </a:spcBef>
            </a:pPr>
            <a:r>
              <a:rPr lang="en-US" b="true" sz="3237" spc="48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Set</a:t>
            </a:r>
            <a:r>
              <a:rPr lang="en-US" b="true" sz="3237" spc="48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up</a:t>
            </a:r>
          </a:p>
          <a:p>
            <a:pPr algn="just" marL="699035" indent="-349517" lvl="1">
              <a:lnSpc>
                <a:spcPts val="3237"/>
              </a:lnSpc>
              <a:spcBef>
                <a:spcPct val="0"/>
              </a:spcBef>
              <a:buFont typeface="Arial"/>
              <a:buChar char="•"/>
            </a:pPr>
            <a:r>
              <a:rPr lang="en-US" sz="3237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Same CNN &amp; data</a:t>
            </a:r>
          </a:p>
          <a:p>
            <a:pPr algn="just" marL="699035" indent="-349517" lvl="1">
              <a:lnSpc>
                <a:spcPts val="3237"/>
              </a:lnSpc>
              <a:spcBef>
                <a:spcPct val="0"/>
              </a:spcBef>
              <a:buFont typeface="Arial"/>
              <a:buChar char="•"/>
            </a:pPr>
            <a:r>
              <a:rPr lang="en-US" sz="3237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Adam (lr=0.001)</a:t>
            </a:r>
          </a:p>
          <a:p>
            <a:pPr algn="just" marL="699035" indent="-349517" lvl="1">
              <a:lnSpc>
                <a:spcPts val="3237"/>
              </a:lnSpc>
              <a:spcBef>
                <a:spcPct val="0"/>
              </a:spcBef>
              <a:buFont typeface="Arial"/>
              <a:buChar char="•"/>
            </a:pPr>
            <a:r>
              <a:rPr lang="en-US" sz="3237" spc="48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SGD(lr=0.01, momentum=0.9)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34753" y="8138735"/>
            <a:ext cx="5834785" cy="16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  <a:spcBef>
                <a:spcPct val="0"/>
              </a:spcBef>
            </a:pPr>
            <a:r>
              <a:rPr lang="en-US" b="true" sz="3283" spc="49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Res</a:t>
            </a:r>
            <a:r>
              <a:rPr lang="en-US" b="true" sz="3283" spc="49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ult</a:t>
            </a:r>
          </a:p>
          <a:p>
            <a:pPr algn="l" marL="708812" indent="-354406" lvl="1">
              <a:lnSpc>
                <a:spcPts val="3283"/>
              </a:lnSpc>
              <a:spcBef>
                <a:spcPct val="0"/>
              </a:spcBef>
              <a:buFont typeface="Arial"/>
              <a:buChar char="•"/>
            </a:pPr>
            <a:r>
              <a:rPr lang="en-US" sz="3283" spc="4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Adam: faster start</a:t>
            </a:r>
          </a:p>
          <a:p>
            <a:pPr algn="l" marL="708812" indent="-354406" lvl="1">
              <a:lnSpc>
                <a:spcPts val="3283"/>
              </a:lnSpc>
              <a:spcBef>
                <a:spcPct val="0"/>
              </a:spcBef>
              <a:buFont typeface="Arial"/>
              <a:buChar char="•"/>
            </a:pPr>
            <a:r>
              <a:rPr lang="en-US" sz="3283" spc="4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SGD: more stable validation</a:t>
            </a:r>
          </a:p>
          <a:p>
            <a:pPr algn="l">
              <a:lnSpc>
                <a:spcPts val="32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0555" y="419812"/>
            <a:ext cx="17575077" cy="9543516"/>
            <a:chOff x="0" y="0"/>
            <a:chExt cx="4628827" cy="25135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28827" cy="2513519"/>
            </a:xfrm>
            <a:custGeom>
              <a:avLst/>
              <a:gdLst/>
              <a:ahLst/>
              <a:cxnLst/>
              <a:rect r="r" b="b" t="t" l="l"/>
              <a:pathLst>
                <a:path h="2513519" w="4628827">
                  <a:moveTo>
                    <a:pt x="0" y="0"/>
                  </a:moveTo>
                  <a:lnTo>
                    <a:pt x="4628827" y="0"/>
                  </a:lnTo>
                  <a:lnTo>
                    <a:pt x="4628827" y="2513519"/>
                  </a:lnTo>
                  <a:lnTo>
                    <a:pt x="0" y="251351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628827" cy="245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45660" y="2152464"/>
            <a:ext cx="8770659" cy="3595970"/>
          </a:xfrm>
          <a:custGeom>
            <a:avLst/>
            <a:gdLst/>
            <a:ahLst/>
            <a:cxnLst/>
            <a:rect r="r" b="b" t="t" l="l"/>
            <a:pathLst>
              <a:path h="3595970" w="8770659">
                <a:moveTo>
                  <a:pt x="0" y="0"/>
                </a:moveTo>
                <a:lnTo>
                  <a:pt x="8770659" y="0"/>
                </a:lnTo>
                <a:lnTo>
                  <a:pt x="8770659" y="3595970"/>
                </a:lnTo>
                <a:lnTo>
                  <a:pt x="0" y="359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660" y="6148484"/>
            <a:ext cx="8770659" cy="3530190"/>
          </a:xfrm>
          <a:custGeom>
            <a:avLst/>
            <a:gdLst/>
            <a:ahLst/>
            <a:cxnLst/>
            <a:rect r="r" b="b" t="t" l="l"/>
            <a:pathLst>
              <a:path h="3530190" w="8770659">
                <a:moveTo>
                  <a:pt x="0" y="0"/>
                </a:moveTo>
                <a:lnTo>
                  <a:pt x="8770659" y="0"/>
                </a:lnTo>
                <a:lnTo>
                  <a:pt x="8770659" y="3530191"/>
                </a:lnTo>
                <a:lnTo>
                  <a:pt x="0" y="3530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2621" y="2152464"/>
            <a:ext cx="8115300" cy="3438069"/>
          </a:xfrm>
          <a:custGeom>
            <a:avLst/>
            <a:gdLst/>
            <a:ahLst/>
            <a:cxnLst/>
            <a:rect r="r" b="b" t="t" l="l"/>
            <a:pathLst>
              <a:path h="3438069" w="8115300">
                <a:moveTo>
                  <a:pt x="0" y="0"/>
                </a:moveTo>
                <a:lnTo>
                  <a:pt x="8115300" y="0"/>
                </a:lnTo>
                <a:lnTo>
                  <a:pt x="8115300" y="3438069"/>
                </a:lnTo>
                <a:lnTo>
                  <a:pt x="0" y="3438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7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0920" y="958664"/>
            <a:ext cx="1582838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7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Experiment 2 — Regular</a:t>
            </a:r>
            <a:r>
              <a:rPr lang="en-US" sz="7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30787" y="6258643"/>
            <a:ext cx="6238968" cy="165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9"/>
              </a:lnSpc>
              <a:spcBef>
                <a:spcPct val="0"/>
              </a:spcBef>
            </a:pPr>
            <a:r>
              <a:rPr lang="en-US" b="true" sz="3279" spc="49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Set</a:t>
            </a:r>
            <a:r>
              <a:rPr lang="en-US" b="true" sz="3279" spc="49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up</a:t>
            </a:r>
          </a:p>
          <a:p>
            <a:pPr algn="just" marL="708151" indent="-354076" lvl="1">
              <a:lnSpc>
                <a:spcPts val="3279"/>
              </a:lnSpc>
              <a:spcBef>
                <a:spcPct val="0"/>
              </a:spcBef>
              <a:buFont typeface="Arial"/>
              <a:buChar char="•"/>
            </a:pPr>
            <a:r>
              <a:rPr lang="en-US" sz="3279" spc="4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Dropout after Conv (0.25)</a:t>
            </a:r>
          </a:p>
          <a:p>
            <a:pPr algn="just" marL="708151" indent="-354076" lvl="1">
              <a:lnSpc>
                <a:spcPts val="3279"/>
              </a:lnSpc>
              <a:spcBef>
                <a:spcPct val="0"/>
              </a:spcBef>
              <a:buFont typeface="Arial"/>
              <a:buChar char="•"/>
            </a:pPr>
            <a:r>
              <a:rPr lang="en-US" sz="3279" spc="4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Dropout in FC (0.5)</a:t>
            </a:r>
          </a:p>
          <a:p>
            <a:pPr algn="just">
              <a:lnSpc>
                <a:spcPts val="32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630787" y="8023738"/>
            <a:ext cx="7018058" cy="165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279" spc="49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Result</a:t>
            </a:r>
          </a:p>
          <a:p>
            <a:pPr algn="l" marL="708151" indent="-354076" lvl="1">
              <a:lnSpc>
                <a:spcPts val="3279"/>
              </a:lnSpc>
              <a:spcBef>
                <a:spcPct val="0"/>
              </a:spcBef>
              <a:buFont typeface="Arial"/>
              <a:buChar char="•"/>
            </a:pPr>
            <a:r>
              <a:rPr lang="en-US" sz="3279" spc="4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Drop</a:t>
            </a:r>
            <a:r>
              <a:rPr lang="en-US" sz="3279" spc="4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out reduces overfitting</a:t>
            </a:r>
          </a:p>
          <a:p>
            <a:pPr algn="l" marL="708151" indent="-354076" lvl="1">
              <a:lnSpc>
                <a:spcPts val="3279"/>
              </a:lnSpc>
              <a:spcBef>
                <a:spcPct val="0"/>
              </a:spcBef>
              <a:buFont typeface="Arial"/>
              <a:buChar char="•"/>
            </a:pPr>
            <a:r>
              <a:rPr lang="en-US" sz="3279" spc="49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Validation performance improves</a:t>
            </a:r>
          </a:p>
          <a:p>
            <a:pPr algn="l">
              <a:lnSpc>
                <a:spcPts val="3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4649" y="580046"/>
            <a:ext cx="17446890" cy="9223049"/>
            <a:chOff x="0" y="0"/>
            <a:chExt cx="4595066" cy="24291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5066" cy="2429116"/>
            </a:xfrm>
            <a:custGeom>
              <a:avLst/>
              <a:gdLst/>
              <a:ahLst/>
              <a:cxnLst/>
              <a:rect r="r" b="b" t="t" l="l"/>
              <a:pathLst>
                <a:path h="2429116" w="4595066">
                  <a:moveTo>
                    <a:pt x="0" y="0"/>
                  </a:moveTo>
                  <a:lnTo>
                    <a:pt x="4595066" y="0"/>
                  </a:lnTo>
                  <a:lnTo>
                    <a:pt x="4595066" y="2429116"/>
                  </a:lnTo>
                  <a:lnTo>
                    <a:pt x="0" y="2429116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595066" cy="2371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81"/>
                </a:lnSpc>
              </a:pPr>
            </a:p>
            <a:p>
              <a:pPr algn="l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7058192" y="-2312817"/>
            <a:ext cx="7875346" cy="7991587"/>
          </a:xfrm>
          <a:custGeom>
            <a:avLst/>
            <a:gdLst/>
            <a:ahLst/>
            <a:cxnLst/>
            <a:rect r="r" b="b" t="t" l="l"/>
            <a:pathLst>
              <a:path h="7991587" w="7875346">
                <a:moveTo>
                  <a:pt x="7875345" y="7991587"/>
                </a:moveTo>
                <a:lnTo>
                  <a:pt x="0" y="7991587"/>
                </a:lnTo>
                <a:lnTo>
                  <a:pt x="0" y="0"/>
                </a:lnTo>
                <a:lnTo>
                  <a:pt x="7875345" y="0"/>
                </a:lnTo>
                <a:lnTo>
                  <a:pt x="7875345" y="799158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4461109"/>
            <a:ext cx="8035351" cy="8153954"/>
          </a:xfrm>
          <a:custGeom>
            <a:avLst/>
            <a:gdLst/>
            <a:ahLst/>
            <a:cxnLst/>
            <a:rect r="r" b="b" t="t" l="l"/>
            <a:pathLst>
              <a:path h="8153954" w="8035351">
                <a:moveTo>
                  <a:pt x="0" y="0"/>
                </a:moveTo>
                <a:lnTo>
                  <a:pt x="8035351" y="0"/>
                </a:lnTo>
                <a:lnTo>
                  <a:pt x="8035351" y="8153954"/>
                </a:lnTo>
                <a:lnTo>
                  <a:pt x="0" y="8153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58545" y="2308919"/>
            <a:ext cx="6943349" cy="7244389"/>
          </a:xfrm>
          <a:custGeom>
            <a:avLst/>
            <a:gdLst/>
            <a:ahLst/>
            <a:cxnLst/>
            <a:rect r="r" b="b" t="t" l="l"/>
            <a:pathLst>
              <a:path h="7244389" w="6943349">
                <a:moveTo>
                  <a:pt x="0" y="0"/>
                </a:moveTo>
                <a:lnTo>
                  <a:pt x="6943349" y="0"/>
                </a:lnTo>
                <a:lnTo>
                  <a:pt x="6943349" y="7244390"/>
                </a:lnTo>
                <a:lnTo>
                  <a:pt x="0" y="7244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95400"/>
            <a:ext cx="1582838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7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Conclusion + Bes</a:t>
            </a:r>
            <a:r>
              <a:rPr lang="en-US" sz="7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t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9808" y="2827020"/>
            <a:ext cx="8186731" cy="643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spc="63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Best Performing Model</a:t>
            </a:r>
          </a:p>
          <a:p>
            <a:pPr algn="l" marL="906780" indent="-45339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pc="6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SGD + No Drop</a:t>
            </a:r>
            <a:r>
              <a:rPr lang="en-US" sz="4200" spc="6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out</a:t>
            </a:r>
          </a:p>
          <a:p>
            <a:pPr algn="l" marL="906780" indent="-45339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pc="6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Test Accuracy: ~80%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4200" spc="63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Key Insights</a:t>
            </a:r>
          </a:p>
          <a:p>
            <a:pPr algn="l" marL="906780" indent="-45339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pc="6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Optimizer choice strongly affects convergence</a:t>
            </a:r>
          </a:p>
          <a:p>
            <a:pPr algn="l" marL="906780" indent="-45339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pc="6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Dropout improves generalization</a:t>
            </a:r>
          </a:p>
          <a:p>
            <a:pPr algn="l" marL="906780" indent="-45339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pc="63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CIFAR-10 needs careful regularization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4938"/>
            <a:ext cx="18150493" cy="9203909"/>
            <a:chOff x="0" y="0"/>
            <a:chExt cx="4274335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6523700" y="-33466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2" y="8750776"/>
                </a:moveTo>
                <a:lnTo>
                  <a:pt x="0" y="8750776"/>
                </a:lnTo>
                <a:lnTo>
                  <a:pt x="0" y="0"/>
                </a:lnTo>
                <a:lnTo>
                  <a:pt x="8623492" y="0"/>
                </a:lnTo>
                <a:lnTo>
                  <a:pt x="8623492" y="87507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224087" y="2277749"/>
          <a:ext cx="11341923" cy="8229600"/>
        </p:xfrm>
        <a:graphic>
          <a:graphicData uri="http://schemas.openxmlformats.org/presentationml/2006/ole">
            <p:oleObj imgW="13601700" imgH="10490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24087" y="1325525"/>
            <a:ext cx="17702320" cy="88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2"/>
              </a:lnSpc>
            </a:pPr>
            <a:r>
              <a:rPr lang="en-US" sz="7828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Contributions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72315" y="-776716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884370" y="7044598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60992" y="4256197"/>
            <a:ext cx="15098308" cy="236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8"/>
              </a:lnSpc>
            </a:pPr>
            <a:r>
              <a:rPr lang="en-US" sz="16219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DAG81IH05Ss</dc:identifier>
  <dcterms:modified xsi:type="dcterms:W3CDTF">2011-08-01T06:04:30Z</dcterms:modified>
  <cp:revision>1</cp:revision>
  <dc:title>AI_Project_Presentation.pptx</dc:title>
</cp:coreProperties>
</file>